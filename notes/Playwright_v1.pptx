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43461"/>
          </a:solidFill>
          <a:ln w="12700">
            <a:solidFill>
              <a:srgbClr val="24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2011680" cy="20116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286000"/>
            <a:ext cx="1371600" cy="13716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PLAYWRIGHT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2286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FRAMEWORK</a:t>
            </a:r>
            <a:endParaRPr lang="en-US" sz="1200" dirty="0"/>
          </a:p>
          <a:p>
            <a:pPr indent="0" marL="0">
              <a:buNone/>
            </a:pPr>
            <a:r>
              <a:rPr lang="en-US" sz="1200" spc="150" kern="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MODERN WEB APPS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97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63040" y="42976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4297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42976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4297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0" y="42976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4297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PLAYWRIGHT?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automation standard from Microsoft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261872"/>
            <a:ext cx="27432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618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MIT-licensed framework maintained by Microsoft. Active community, rapid release cadence.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1261872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261872"/>
            <a:ext cx="27432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2618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78808" y="1920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10128" y="25603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to test on Chromium, Firefox &amp; WebKit. One codebase, all major browsers covered.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7336" y="1261872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261872"/>
            <a:ext cx="2743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7336" y="12618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Ready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23176" y="1920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54496" y="256032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pipelines. Headless execution, Docker support, GitHub Actions, GitLab CI &amp; more.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PLAYWRIGHT?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reasons teams are adopting Playwright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8686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234440"/>
            <a:ext cx="50292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344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307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Reliability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58191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test execution, fastest framework benchmarks — up to 5× faster than Selenium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984248"/>
            <a:ext cx="8686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984248"/>
            <a:ext cx="50292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98424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Auto-Waiting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233172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sleeps — polls CDP events to wait for visibility, stability, and actionability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2734056"/>
            <a:ext cx="8686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734056"/>
            <a:ext cx="50292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73405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2807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Assertions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08152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Retry-able web-first assertions poll until true — zero false failures on async UIs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3483864"/>
            <a:ext cx="8686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483864"/>
            <a:ext cx="50292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48386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35570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Resilience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38313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Auto-retry, BrowserContext isolation, and Trace Viewer with full DOM+network replay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4233672"/>
            <a:ext cx="8686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4233672"/>
            <a:ext cx="50292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23367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" y="43068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Set Up &amp; Learn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" y="458114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`npm init playwright@latest` command sets up browsers, config and example tests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vs Selenium • Cypress • WebdriverIO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VS SELENIUM VS CYPRESS VS WEBDRIVERIO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comparison across the major testing frameworks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2267712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70432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170432"/>
            <a:ext cx="1572768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1704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41648" y="1170432"/>
            <a:ext cx="1572768" cy="347472"/>
          </a:xfrm>
          <a:prstGeom prst="rect">
            <a:avLst/>
          </a:prstGeom>
          <a:solidFill>
            <a:srgbClr val="5C5C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1648" y="11704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32704" y="1170432"/>
            <a:ext cx="1572768" cy="347472"/>
          </a:xfrm>
          <a:prstGeom prst="rect">
            <a:avLst/>
          </a:prstGeom>
          <a:solidFill>
            <a:srgbClr val="1B73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2704" y="11704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1170432"/>
            <a:ext cx="1572768" cy="347472"/>
          </a:xfrm>
          <a:prstGeom prst="rect">
            <a:avLst/>
          </a:prstGeom>
          <a:solidFill>
            <a:srgbClr val="0066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17043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" y="1536192"/>
            <a:ext cx="22677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53619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Support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50592" y="1536192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Chrome/FF/Safari 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41648" y="1536192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32704" y="1536192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32704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Chrome/FF ⚠️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1536192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53619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Chrome/FF/Safari ✅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4592" y="1865376"/>
            <a:ext cx="2267712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" y="186537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Support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50592" y="1865376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0592" y="18653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JS/TS/Py/Java/.NET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41648" y="1865376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41648" y="18653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languages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32704" y="1865376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18653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JS/TS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1865376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18653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64592" y="2194560"/>
            <a:ext cx="22677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" y="219456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50592" y="2194560"/>
            <a:ext cx="1572768" cy="329184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50592" y="21945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041648" y="2194560"/>
            <a:ext cx="1572768" cy="329184"/>
          </a:xfrm>
          <a:prstGeom prst="rect">
            <a:avLst/>
          </a:prstGeom>
          <a:solidFill>
            <a:srgbClr val="FDF0F0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41648" y="21945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Manual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32704" y="2194560"/>
            <a:ext cx="1572768" cy="329184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32704" y="21945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23760" y="2194560"/>
            <a:ext cx="1572768" cy="329184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219456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64592" y="2523744"/>
            <a:ext cx="2267712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52374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Tests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450592" y="2523744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50592" y="252374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 free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41648" y="2523744"/>
            <a:ext cx="1572768" cy="329184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41648" y="252374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Grid needed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632704" y="2523744"/>
            <a:ext cx="1572768" cy="329184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32704" y="252374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Paid Cloud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223760" y="2523744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252374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64592" y="2852928"/>
            <a:ext cx="22677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7744" y="2852928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450592" y="2852928"/>
            <a:ext cx="1572768" cy="329184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50592" y="285292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041648" y="2852928"/>
            <a:ext cx="1572768" cy="329184"/>
          </a:xfrm>
          <a:prstGeom prst="rect">
            <a:avLst/>
          </a:prstGeom>
          <a:solidFill>
            <a:srgbClr val="FDF0F0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41648" y="285292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632704" y="2852928"/>
            <a:ext cx="1572768" cy="329184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32704" y="285292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223760" y="2852928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23760" y="285292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Via plugins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64592" y="3182112"/>
            <a:ext cx="2267712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" y="318211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Support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450592" y="3182112"/>
            <a:ext cx="1572768" cy="329184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50592" y="31821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041648" y="3182112"/>
            <a:ext cx="1572768" cy="329184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41648" y="31821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632704" y="3182112"/>
            <a:ext cx="1572768" cy="329184"/>
          </a:xfrm>
          <a:prstGeom prst="rect">
            <a:avLst/>
          </a:prstGeom>
          <a:solidFill>
            <a:srgbClr val="FDF0F0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32704" y="31821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Limited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223760" y="3182112"/>
            <a:ext cx="1572768" cy="329184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23760" y="31821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64592" y="3511296"/>
            <a:ext cx="22677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7744" y="351129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Complexity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450592" y="3511296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50592" y="351129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Very easy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041648" y="3511296"/>
            <a:ext cx="1572768" cy="329184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41648" y="351129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Complex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632704" y="3511296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32704" y="351129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Easy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223760" y="3511296"/>
            <a:ext cx="1572768" cy="329184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223760" y="351129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Moderate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164592" y="3840480"/>
            <a:ext cx="2267712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37744" y="384048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2450592" y="3840480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50592" y="38404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Very fast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041648" y="3840480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41648" y="38404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Slower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5632704" y="3840480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32704" y="38404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223760" y="3840480"/>
            <a:ext cx="1572768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23760" y="384048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164592" y="4169664"/>
            <a:ext cx="22677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7744" y="416966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Flakiness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2450592" y="4169664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450592" y="41696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Very low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041648" y="4169664"/>
            <a:ext cx="1572768" cy="329184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41648" y="41696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Higher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5632704" y="4169664"/>
            <a:ext cx="157276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632704" y="41696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Low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223760" y="4169664"/>
            <a:ext cx="1572768" cy="329184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223760" y="416966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Moderate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164592" y="4498848"/>
            <a:ext cx="2267712" cy="329184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37744" y="4498848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Open Source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2450592" y="4498848"/>
            <a:ext cx="1572768" cy="329184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450592" y="44988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041648" y="4498848"/>
            <a:ext cx="1572768" cy="329184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41648" y="44988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5632704" y="4498848"/>
            <a:ext cx="1572768" cy="329184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32704" y="44988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7223760" y="4498848"/>
            <a:ext cx="1572768" cy="329184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223760" y="44988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VS CYPRESS: ARCHITECTURE DEEP-DIVE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Out-of-process vs In-browser — why it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422452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170432"/>
            <a:ext cx="4224528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170432"/>
            <a:ext cx="4151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PLAYWRIGHT — Out-of-Process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" y="1755648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664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code runs OUTSIDE the browser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203704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122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via CDP/WebSocket (fast, bidirectional)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265176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560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cross-origin restrictions whatsoever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3099816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083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parallel isolation via BrowserContexts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" y="3547872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56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control multiple tabs, windows, and origins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" y="3995928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9044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Multi-language: TS, JS, Python, Java, .NET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170432"/>
            <a:ext cx="43159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170432"/>
            <a:ext cx="4315968" cy="402336"/>
          </a:xfrm>
          <a:prstGeom prst="rect">
            <a:avLst/>
          </a:prstGeom>
          <a:solidFill>
            <a:srgbClr val="3A6B2A"/>
          </a:solidFill>
          <a:ln w="12700">
            <a:solidFill>
              <a:srgbClr val="3A6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1170432"/>
            <a:ext cx="4242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— In-Browser Runner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36592" y="1755648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INSIDE the browser (limited scope)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2203704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21122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superdomain per test by default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2651760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2560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cy.origin() required for cross-origin testing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36592" y="3099816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30083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drive 2 browsers simultaneously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36592" y="3547872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34564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in-browser visual debugger &amp; DX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36592" y="3995928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3904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component testing (React/Vue/Svelte)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4592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playwright.dev (No trade-offs section) | docs.cypress.io/app/references/trade-offs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VS CYPRESS: FEATURE COMPARISON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based on official documentation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30175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704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70432"/>
            <a:ext cx="28346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704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53328" y="1170432"/>
            <a:ext cx="2834640" cy="347472"/>
          </a:xfrm>
          <a:prstGeom prst="rect">
            <a:avLst/>
          </a:prstGeom>
          <a:solidFill>
            <a:srgbClr val="1B73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3328" y="11704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" y="1536192"/>
            <a:ext cx="301752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536192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536192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536192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Actionability checks on every action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53328" y="1536192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536192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 retry-ability on assertions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" y="1869948"/>
            <a:ext cx="3017520" cy="333756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869948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869948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1869948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 workers — 100% free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53328" y="1869948"/>
            <a:ext cx="2834640" cy="333756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869948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Requires Cypress Cloud (paid)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4592" y="2203704"/>
            <a:ext cx="301752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203704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/ window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2203704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2203704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native support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53328" y="2203704"/>
            <a:ext cx="2834640" cy="333756"/>
          </a:xfrm>
          <a:prstGeom prst="rect">
            <a:avLst/>
          </a:prstGeom>
          <a:solidFill>
            <a:srgbClr val="FDF0F0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203704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Cannot drive 2 browsers at once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4592" y="2537460"/>
            <a:ext cx="3017520" cy="333756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537460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testing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2537460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2537460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restrictions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53328" y="2537460"/>
            <a:ext cx="2834640" cy="333756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537460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Requires cy.origin() — extra setup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64592" y="2871216"/>
            <a:ext cx="301752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2871216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0" y="2871216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871216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 request API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53328" y="2871216"/>
            <a:ext cx="2834640" cy="333756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2871216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 cy.request() only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64592" y="3204972"/>
            <a:ext cx="3017520" cy="333756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3204972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0" y="3204972"/>
            <a:ext cx="2834640" cy="333756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73552" y="3204972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Experimental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53328" y="3204972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3204972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First-class: React/Vue/Angular/Svelte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64592" y="3538728"/>
            <a:ext cx="301752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3538728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200400" y="3538728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73552" y="3538728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toHaveScreenshot() — built-in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053328" y="3538728"/>
            <a:ext cx="2834640" cy="333756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3538728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3rd-party plugins only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64592" y="3872484"/>
            <a:ext cx="3017520" cy="333756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3872484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 / iFrames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00400" y="3872484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73552" y="3872484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Selectors pierce Shadow DOM natively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053328" y="3872484"/>
            <a:ext cx="2834640" cy="333756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3872484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iframe support limited (documented)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64592" y="4206240"/>
            <a:ext cx="301752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" y="4206240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emulation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200400" y="4206240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73552" y="4206240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Chrome Android + Mobile Safari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053328" y="4206240"/>
            <a:ext cx="2834640" cy="333756"/>
          </a:xfrm>
          <a:prstGeom prst="rect">
            <a:avLst/>
          </a:prstGeom>
          <a:solidFill>
            <a:srgbClr val="FDF0F0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26480" y="4206240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native mobile emulation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64592" y="4539996"/>
            <a:ext cx="3017520" cy="333756"/>
          </a:xfrm>
          <a:prstGeom prst="rect">
            <a:avLst/>
          </a:prstGeom>
          <a:solidFill>
            <a:srgbClr val="F4F5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" y="4539996"/>
            <a:ext cx="290779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200400" y="4539996"/>
            <a:ext cx="2834640" cy="333756"/>
          </a:xfrm>
          <a:prstGeom prst="rect">
            <a:avLst/>
          </a:prstGeom>
          <a:solidFill>
            <a:srgbClr val="EDF9F1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73552" y="4539996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100% free — no paid plan ever needed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053328" y="4539996"/>
            <a:ext cx="2834640" cy="333756"/>
          </a:xfrm>
          <a:prstGeom prst="rect">
            <a:avLst/>
          </a:prstGeom>
          <a:solidFill>
            <a:srgbClr val="FFFBEC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26480" y="4539996"/>
            <a:ext cx="27432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Parallelism, Replay = Cypress Cloud (paid)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GUIDE: WHEN TO CHOOSE EACH TOOL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universally better — choose based on your 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425196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70432"/>
            <a:ext cx="4178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Choose PLAYWRIGHT when...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" y="1563624"/>
            <a:ext cx="4251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1627632"/>
            <a:ext cx="40599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Safari / WebKit coverage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uses Python, Java, or .NET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span multiple tabs, origins or users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100% free parallelization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deep network interception &amp; mocking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enterprise test suite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browser emulation required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Microsoft products (VS Code, Azure)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4315968" cy="384048"/>
          </a:xfrm>
          <a:prstGeom prst="rect">
            <a:avLst/>
          </a:prstGeom>
          <a:solidFill>
            <a:srgbClr val="1B7340"/>
          </a:solidFill>
          <a:ln w="12700">
            <a:solidFill>
              <a:srgbClr val="1B7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170432"/>
            <a:ext cx="4242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CYPRESS when...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563624"/>
            <a:ext cx="43159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627632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JavaScript / TypeScript only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(not QA) are writing the tests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testing (React/Vue/Angular) is primary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the best in-browser visual debugger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using Cypress Cloud for analytics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 primarily Chrome/Firefox/Edge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jQuery-like chaining API preferred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AI-assisted test generation (Studio AI)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64592" y="4846320"/>
            <a:ext cx="8778240" cy="219456"/>
          </a:xfrm>
          <a:prstGeom prst="rect">
            <a:avLst/>
          </a:prstGeom>
          <a:solidFill>
            <a:srgbClr val="EEF6FF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484632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Neither tool is universally 'better' — choose based on your team's language, budget, and browser requirements.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• Chrome DevTools Protocol • 3-Layer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VS HTTP: HOW PLAYWRIGHT TALKS TO THE BROWSER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protocol difference that makes Playwright faster and more reliable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8778240" cy="347472"/>
          </a:xfrm>
          <a:prstGeom prst="rect">
            <a:avLst/>
          </a:prstGeom>
          <a:solidFill>
            <a:srgbClr val="EEF6FF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704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HTTP is like sending letters — one envelope per message.  📞  WebSocket is like a live phone call — one connection, talk freely, anytime.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" y="1591056"/>
            <a:ext cx="422452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591056"/>
            <a:ext cx="4224528" cy="384048"/>
          </a:xfrm>
          <a:prstGeom prst="rect">
            <a:avLst/>
          </a:prstGeom>
          <a:solidFill>
            <a:srgbClr val="6B3A3A"/>
          </a:solidFill>
          <a:ln w="12700">
            <a:solidFill>
              <a:srgbClr val="6B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591056"/>
            <a:ext cx="4151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HTTP — Selenium / WebDriver Way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2048256"/>
            <a:ext cx="400507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new TCP connection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Send HTTP request: click()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Wait for HTTP response...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Close connection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Open NEW connection again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Send next HTTP request: type()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Wait for response... 🔁 repeats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591056"/>
            <a:ext cx="43159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591056"/>
            <a:ext cx="4315968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591056"/>
            <a:ext cx="4242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WebSocket — Playwright Way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27448" y="2048256"/>
            <a:ext cx="4096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ONE WebSocket connection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→ Send: click()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← Receive: done!  (&lt; 5ms)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→ Send: type('hello')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← Receive: done!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← Browser pushes event: loaded!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→ Send: screenshot()  ✅ stays alive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4681728"/>
            <a:ext cx="2834640" cy="320040"/>
          </a:xfrm>
          <a:prstGeom prst="rect">
            <a:avLst/>
          </a:prstGeom>
          <a:solidFill>
            <a:srgbClr val="E8F8E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4681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/ command: ~1–5ms (WS frame)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27248" y="4681728"/>
            <a:ext cx="2834640" cy="320040"/>
          </a:xfrm>
          <a:prstGeom prst="rect">
            <a:avLst/>
          </a:prstGeom>
          <a:solidFill>
            <a:srgbClr val="E8F8E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4681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50-action overhead: ~0ms extra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4681728"/>
            <a:ext cx="2834640" cy="320040"/>
          </a:xfrm>
          <a:prstGeom prst="rect">
            <a:avLst/>
          </a:prstGeom>
          <a:solidFill>
            <a:srgbClr val="E8F8E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4681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script: Instant push events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PLAYWRIGHT'S 3-LAYER ARCHITECTURE &amp; CDP MESSAGES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test command becomes a real browser 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2788920" cy="11887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" y="14447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81051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/ JavaScript / Python / Java / .NET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53512" y="1508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36392" y="1170432"/>
            <a:ext cx="2788920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36392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36392" y="14447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36392" y="181051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process — translates API calls → CDP 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25312" y="15087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08192" y="1170432"/>
            <a:ext cx="278892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08192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08192" y="14447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Engine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08192" y="181051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/ Firefox / WebKit — executes the command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" y="2487168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CDP MESSAGES OVER WEBSOCKET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2761488"/>
            <a:ext cx="27432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4592" y="2761488"/>
            <a:ext cx="2743200" cy="25603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" y="27614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COMMAND sent to browser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7744" y="3035808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"method": "Page.navigate",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"url": "https://example.com",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"transitionType": "typed"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90672" y="2761488"/>
            <a:ext cx="27432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90672" y="2761488"/>
            <a:ext cx="2743200" cy="25603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3824" y="276148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RESPONSE from browser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63824" y="3035808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"frameId": "ABC123",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"loaderId": "DEF456"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id matches command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761488"/>
            <a:ext cx="292608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761488"/>
            <a:ext cx="2926080" cy="25603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2761488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EVENT pushed (no request needed!)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08192" y="3035808"/>
            <a:ext cx="27797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"method":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"Page.loadEventFired",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"params":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"timestamp":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1706123456.789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CDP EVENTS PLAYWRIGHT LISTENS TO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Protocol powers Playwright's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8732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communicates directly with the browser via CDP over WebSocket — bypassing WebDriver's HTTP relay, giving it real-time event access: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1627632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627632"/>
            <a:ext cx="960120" cy="93268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627632"/>
            <a:ext cx="960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25296" y="1700784"/>
            <a:ext cx="31272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DOM.documentUpdated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DOM.childNodeModified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DOM.setAttributeValue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627632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27632"/>
            <a:ext cx="960120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27632"/>
            <a:ext cx="960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87568" y="1700784"/>
            <a:ext cx="31272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Network.requestWillBeSent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Network.responseReceived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Network.webSocketFrameSent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" y="2679192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2679192"/>
            <a:ext cx="960120" cy="9326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679192"/>
            <a:ext cx="960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25296" y="2752344"/>
            <a:ext cx="31272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Page.frameNavigated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Page.loadEventFired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Page.lifecycleEvent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679192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79192"/>
            <a:ext cx="960120" cy="9326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79192"/>
            <a:ext cx="960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87568" y="2752344"/>
            <a:ext cx="31272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Runtime.executionContextCreated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Runtime.consoleAPICalled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" y="3730752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3730752"/>
            <a:ext cx="960120" cy="9326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3730752"/>
            <a:ext cx="960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Emulation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25296" y="3803904"/>
            <a:ext cx="31272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Emulation.setDeviceMetricsOverride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Emulation.setGeolocationOverride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730752"/>
            <a:ext cx="4251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730752"/>
            <a:ext cx="960120" cy="93268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730752"/>
            <a:ext cx="960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87568" y="3803904"/>
            <a:ext cx="31272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Input.dispatchMouseEvent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Input.dispatchKeyEvent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Input.insertText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4800600"/>
            <a:ext cx="8732520" cy="219456"/>
          </a:xfrm>
          <a:prstGeom prst="rect">
            <a:avLst/>
          </a:prstGeom>
          <a:solidFill>
            <a:srgbClr val="EEF6FF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4800600"/>
            <a:ext cx="8549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and WebKit use equivalent protocol bridges — Playwright normalises all three engines into one unified API.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CDP SUPERPOWERS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Chrome DevTools Protocol unlocks in your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170432"/>
            <a:ext cx="201168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25296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Interception &amp; Mocking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1508760"/>
            <a:ext cx="2240280" cy="786384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5361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page.route("**/api/**", route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route.fulfill({ json: mockData }));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61488" y="1508760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modify or mock any HTTP request. Test error states without touching the server. Works via CDP's Network.continueInterceptedRequest.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1170432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170432"/>
            <a:ext cx="20116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225296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&amp; Permissions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9472" y="1508760"/>
            <a:ext cx="2240280" cy="786384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5361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context.grantPermissions(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["geolocation"]);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context.setGeolocation(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{lat:13.08, lng:80.27});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242048" y="1508760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GPS location, camera, push notification permissions — all via CDP without touching OS settings.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4592" y="2496312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4592" y="2496312"/>
            <a:ext cx="201168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51176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JavaScript in Browser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834640"/>
            <a:ext cx="2240280" cy="786384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86207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title = await page.evaluate(()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document.title);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61488" y="2834640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JS inside the browser context and get the result back. Uses CDP's Runtime.evaluate — same as Chrome console.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2496312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2496312"/>
            <a:ext cx="20116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551176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&amp; Error Capture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19472" y="2834640"/>
            <a:ext cx="2240280" cy="786384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286207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page.on("console", msg =&gt; log(msg.text()));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page.on("pageerror", err =&gt; log(err));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42048" y="2834640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streams console.log output, unhandled errors and crashes in real-time — Playwright surfaces them as events.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4592" y="3822192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64592" y="3822192"/>
            <a:ext cx="20116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77056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Coverage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8912" y="4160520"/>
            <a:ext cx="2240280" cy="786384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" y="418795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page.coverage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.startJSCoverage();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...run tests...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page.coverage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.stopJSCoverage();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61488" y="4160520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JS/CSS code coverage, CPU profiles and memory snapshots — powered by CDP Profiler and Coverage domains.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45152" y="3822192"/>
            <a:ext cx="4279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45152" y="3822192"/>
            <a:ext cx="201168" cy="1234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877056"/>
            <a:ext cx="3877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CDP Session Access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19472" y="4160520"/>
            <a:ext cx="2240280" cy="786384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336" y="418795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client = await page.context()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.newCDPSession(page);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client.send("DOM.enable");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242048" y="4160520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Playwright's API isn't enough, call any CDP method directly — access anything Chrome DevTools panel can do.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Internals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 Engine • Lifecycle • Flaky Test Fixes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AUTO-WAIT: PLAYWRIGHT VS SELENIUM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Playwright eliminates flaky waits at the engine level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4224528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170432"/>
            <a:ext cx="4224528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170432"/>
            <a:ext cx="4151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PLAYWRIGHT — Auto-Wait Engine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1664208"/>
            <a:ext cx="400507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Locator created (lazy — no DOM query yet)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Action called (e.g. click())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Playwright polls CDP for element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Checks: visible? enabled? stable? not obscured?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Retries automatically until timeout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Action fires only when ALL checks pass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370832"/>
            <a:ext cx="4005072" cy="310896"/>
          </a:xfrm>
          <a:prstGeom prst="rect">
            <a:avLst/>
          </a:prstGeom>
          <a:solidFill>
            <a:srgbClr val="E8F8E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37083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Thread.sleep / implicit waits needed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170432"/>
            <a:ext cx="4315968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70432"/>
            <a:ext cx="4315968" cy="402336"/>
          </a:xfrm>
          <a:prstGeom prst="rect">
            <a:avLst/>
          </a:prstGeom>
          <a:solidFill>
            <a:srgbClr val="6B3A3A"/>
          </a:solidFill>
          <a:ln w="12700">
            <a:solidFill>
              <a:srgbClr val="6B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170432"/>
            <a:ext cx="4242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SELENIUM — Manual Wait Burden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27448" y="1664208"/>
            <a:ext cx="40965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WebDriver sends HTTP command to browser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DOM queried immediately — may not exist yet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StaleElementReferenceException if DOM changes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Developer must add explicit WebDriverWait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FluentWait or Thread.sleep workarounds needed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Race conditions cause intermittent failures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448" y="4370832"/>
            <a:ext cx="4096512" cy="310896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4370832"/>
            <a:ext cx="4096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synchronisation every time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LIFECYCLE &amp; FLAKY TEST FIXES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execution flow and how Playwright handles instability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132588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08760" y="1399032"/>
            <a:ext cx="338328" cy="82296"/>
          </a:xfrm>
          <a:prstGeom prst="rect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4208" y="1188720"/>
            <a:ext cx="1325880" cy="502920"/>
          </a:xfrm>
          <a:prstGeom prst="rect">
            <a:avLst/>
          </a:prstGeom>
          <a:solidFill>
            <a:srgbClr val="243461"/>
          </a:solidFill>
          <a:ln w="12700">
            <a:solidFill>
              <a:srgbClr val="2434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64208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Launch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90088" y="1399032"/>
            <a:ext cx="338328" cy="82296"/>
          </a:xfrm>
          <a:prstGeom prst="rect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1188720"/>
            <a:ext cx="13258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45536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Create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71416" y="1399032"/>
            <a:ext cx="338328" cy="82296"/>
          </a:xfrm>
          <a:prstGeom prst="rect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188720"/>
            <a:ext cx="13258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Navigate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52744" y="1399032"/>
            <a:ext cx="338328" cy="82296"/>
          </a:xfrm>
          <a:prstGeom prst="rect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8192" y="1188720"/>
            <a:ext cx="132588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08192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/ Assert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34072" y="1399032"/>
            <a:ext cx="338328" cy="82296"/>
          </a:xfrm>
          <a:prstGeom prst="rect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188720"/>
            <a:ext cx="132588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11887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1810512"/>
            <a:ext cx="8732520" cy="292608"/>
          </a:xfrm>
          <a:prstGeom prst="rect">
            <a:avLst/>
          </a:prstGeom>
          <a:solidFill>
            <a:srgbClr val="EEF6FF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810512"/>
            <a:ext cx="8549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gets a fresh BrowserContext — isolated cookies, storage, and network state. No shared state leaks between tests.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" y="2231136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FLAKY TEST SCENARIOS &amp; PLAYWRIGHT FIXES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2578608"/>
            <a:ext cx="3931920" cy="402336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5786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Element not visible yet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2578608"/>
            <a:ext cx="4617720" cy="402336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2578608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Auto-wait checks visibility before acting — no sleep needed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" y="3054096"/>
            <a:ext cx="3931920" cy="402336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05409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Animation in progress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3054096"/>
            <a:ext cx="4617720" cy="402336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3054096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Playwright waits for CSS transition/animation to finish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3529584"/>
            <a:ext cx="3931920" cy="402336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295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Network response pending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3529584"/>
            <a:ext cx="4617720" cy="402336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3529584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page.waitForResponse() or route interception for precise control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2880" y="4005072"/>
            <a:ext cx="3931920" cy="402336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0050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Shared browser state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4005072"/>
            <a:ext cx="4617720" cy="402336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4005072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BrowserContext isolation — each test = fresh clean slate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2880" y="4480560"/>
            <a:ext cx="3931920" cy="402336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4805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Popup / dialog timing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97680" y="4480560"/>
            <a:ext cx="4617720" cy="402336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4480560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page.on('dialog') registered before action that triggers it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DEBUG AUTO-WAIT FAILURES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approach when Playwright times out waiting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STEPS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1508760"/>
            <a:ext cx="40965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618488"/>
            <a:ext cx="365760" cy="36576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" y="15636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--debug flag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" y="181965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Inspector, lets you hover locators live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" y="2185416"/>
            <a:ext cx="40965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2295144"/>
            <a:ext cx="365760" cy="36576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295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" y="22402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error message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" y="249631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'Timeout waiting for …' names the exact condition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2862072"/>
            <a:ext cx="40965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971800"/>
            <a:ext cx="365760" cy="36576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Trace Viewer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" y="317296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playwright show-trace trace.zip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3538728"/>
            <a:ext cx="40965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3648456"/>
            <a:ext cx="365760" cy="36576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648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" y="3593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DOM screenshot in trace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" y="384962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element present? Hidden? Inside iframe?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" y="4215384"/>
            <a:ext cx="409651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4325112"/>
            <a:ext cx="365760" cy="36576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" y="42702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locator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" y="452628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page.locator().highlight() to confirm match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62272" y="1170432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COMMANDS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62272" y="1508760"/>
            <a:ext cx="4462272" cy="585216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0" y="1536192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debug mode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0" y="175564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--debug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62272" y="2185416"/>
            <a:ext cx="4462272" cy="585216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0" y="221284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trace after run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0" y="2432304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show-trace trace.zip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62272" y="2862072"/>
            <a:ext cx="4462272" cy="585216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0" y="2889504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locator in page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0" y="310896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page.locator('#submit').highlight();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62272" y="3538728"/>
            <a:ext cx="4462272" cy="585216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0" y="35661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timeout globally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0" y="3785616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use: { actionTimeout: 15000 }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462272" y="4215384"/>
            <a:ext cx="4462272" cy="585216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72000" y="424281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wait condition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72000" y="4462272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expect(locator).toBeVisible({ timeout: 10000 });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Capabilities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Features • Cross-Browser • Testing Types • CI/CD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MODERN FEATURES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complexity of today's web applications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34440"/>
            <a:ext cx="73152" cy="160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0976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947672"/>
            <a:ext cx="2505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Pierce through Shadow DOM boundaries effortlessly without extra configuration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2344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234440"/>
            <a:ext cx="73152" cy="160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4173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22776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Intercept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947672"/>
            <a:ext cx="2505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Mock, stub, or observe any HTTP/WebSocket request in real-time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4768" y="12344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234440"/>
            <a:ext cx="73152" cy="160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173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94576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Emulation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947672"/>
            <a:ext cx="2505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mobile devices, geolocation, timezone and network throttling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30632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063240"/>
            <a:ext cx="73152" cy="160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46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50976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/ iFrame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776472"/>
            <a:ext cx="2505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popups, frames, and new browser contexts natively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72968" y="30632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72968" y="3063240"/>
            <a:ext cx="73152" cy="160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246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22776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776472"/>
            <a:ext cx="2505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download files within tests reliably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44768" y="306324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4768" y="3063240"/>
            <a:ext cx="73152" cy="160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246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94576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Handling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3776472"/>
            <a:ext cx="25054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reuse authenticated sessions across tests via storageState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 SUPPORTED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framework for your entire testing pyramid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070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07008"/>
            <a:ext cx="274320" cy="7863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280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" y="16093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type, assert — full browser UI automation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070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07008"/>
            <a:ext cx="274320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1280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47488" y="16093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request() context for REST / GraphQL — no extra libraries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1214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121408"/>
            <a:ext cx="274320" cy="7863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194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journey from login to checkout across real browsers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1214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121408"/>
            <a:ext cx="274320" cy="7863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194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47488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same suite on Chrome, Firefox, Safari simultaneously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30358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3035808"/>
            <a:ext cx="274320" cy="7863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3108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" y="3438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&amp; test React/Vue/Svelte components in isolation (experimental)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0358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035808"/>
            <a:ext cx="274320" cy="78638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108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Web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47488" y="3438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 mobile viewports, touch gestures, and device orientation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1168" y="39502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1168" y="3950208"/>
            <a:ext cx="274320" cy="7863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4023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Interception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5216" y="4352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APIs, simulate errors, throttle bandwidth via CDP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95020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950208"/>
            <a:ext cx="274320" cy="786384"/>
          </a:xfrm>
          <a:prstGeom prst="rect">
            <a:avLst/>
          </a:prstGeom>
          <a:solidFill>
            <a:srgbClr val="8E2157"/>
          </a:solidFill>
          <a:ln w="12700">
            <a:solidFill>
              <a:srgbClr val="8E21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4023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Testing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47488" y="4352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diffs to catch unintended UI regressions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&amp; CROSS-PLATFORM SUPPORT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test, every browser, every 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274320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Edge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45536" y="1234440"/>
            <a:ext cx="2743200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45536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45536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Gecko 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1234440"/>
            <a:ext cx="274320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9904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WebKit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89904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" y="283464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3127248"/>
            <a:ext cx="2743200" cy="640080"/>
          </a:xfrm>
          <a:prstGeom prst="rect">
            <a:avLst/>
          </a:prstGeom>
          <a:solidFill>
            <a:srgbClr val="EEF0F6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127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45536" y="3127248"/>
            <a:ext cx="2743200" cy="640080"/>
          </a:xfrm>
          <a:prstGeom prst="rect">
            <a:avLst/>
          </a:prstGeom>
          <a:solidFill>
            <a:srgbClr val="EEF0F6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3127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9904" y="3127248"/>
            <a:ext cx="2743200" cy="640080"/>
          </a:xfrm>
          <a:prstGeom prst="rect">
            <a:avLst/>
          </a:prstGeom>
          <a:solidFill>
            <a:srgbClr val="EEF0F6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3127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1168" y="3913632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3913632"/>
            <a:ext cx="8549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Emulation  —  Chrome on Android  &amp;  Safari on iOS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&amp; EXTENSIBILITY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meets your team's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8732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34440"/>
            <a:ext cx="749808" cy="7863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234440"/>
            <a:ext cx="7498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0704" y="1307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0704" y="163677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best ecosystem, most examples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2139696"/>
            <a:ext cx="8732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2139696"/>
            <a:ext cx="749808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139696"/>
            <a:ext cx="7498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0704" y="2212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0704" y="254203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pytest-playwright plugin, widely used in QA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3044952"/>
            <a:ext cx="8732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3044952"/>
            <a:ext cx="749808" cy="7863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3044952"/>
            <a:ext cx="7498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JVM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0704" y="3118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0704" y="34472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support, Maven / Gradle integration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3950208"/>
            <a:ext cx="8732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950208"/>
            <a:ext cx="749808" cy="7863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950208"/>
            <a:ext cx="74980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60704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/ C#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60704" y="435254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NUnit / MSTest, strong typing, async/await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" y="4727448"/>
            <a:ext cx="8732520" cy="256032"/>
          </a:xfrm>
          <a:prstGeom prst="rect">
            <a:avLst/>
          </a:prstGeom>
          <a:solidFill>
            <a:srgbClr val="EEF6FF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727448"/>
            <a:ext cx="8549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VS Code Extension  •  Playwright Inspector  •  Codegen (auto-generate tests)  •  Custom Reporters API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TEST STABILITY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 to find, understand, and fix failures fast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34440"/>
            <a:ext cx="4572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2344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158191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every action with screenshots, network &amp; console logs — replay failures completely offline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1984248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984248"/>
            <a:ext cx="4572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98424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&amp; Video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" y="23317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screenshot capture on failure; full video recording of each test run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734056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734056"/>
            <a:ext cx="457200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340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" y="27980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Inspector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30815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DOM + CSS snapshot captured at every single action step inside the trace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3483864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483864"/>
            <a:ext cx="45720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348386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6384" y="3547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Log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" y="383133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XHR/Fetch/WebSocket calls logged with full request &amp; response payloads in the trace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" y="4233672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4233672"/>
            <a:ext cx="45720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23367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6384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Mode (--debug)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6384" y="458114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test live in Playwright Inspector — hover to highlight locators, pause/resume at will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pipeline integration out of the box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234440"/>
            <a:ext cx="425196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234440"/>
            <a:ext cx="4032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1691640"/>
            <a:ext cx="40325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action available. Matrix strategy for parallel cross-browser runs. HTML reports as artifacts.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42519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234440"/>
            <a:ext cx="4032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1691640"/>
            <a:ext cx="40325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official Docker image. Store traces and HTML reports as GitLab CI artifacts.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1168" y="265176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651760"/>
            <a:ext cx="425196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2651760"/>
            <a:ext cx="4032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Pipelines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" y="3108960"/>
            <a:ext cx="40325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task support. Publish HTML report as build artifact. Native Microsoft integration.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651760"/>
            <a:ext cx="42519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651760"/>
            <a:ext cx="4032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3108960"/>
            <a:ext cx="40325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 execution in Docker agent. JUnit XML output supported for test reporting.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01168" y="4178808"/>
            <a:ext cx="873252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417880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Docker-Ready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417880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Parallel Execution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417880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Headless Mode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417880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HTML Reports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417880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Retry on CI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PLAYWRIGHT FRAMEWORK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structure, patterns &amp; one-command setup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170432"/>
            <a:ext cx="8732520" cy="493776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70432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init playwright@latest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40680" y="1170432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One command. Browsers, config, example tests — all done!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810512"/>
            <a:ext cx="42793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" y="1810512"/>
            <a:ext cx="4279392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81051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" y="2212848"/>
            <a:ext cx="40599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each page's actions in a class. Tests call methods like loginPage.login('user','pass'). Easy to maintain when UI changes.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728" y="1810512"/>
            <a:ext cx="42793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810512"/>
            <a:ext cx="427939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81051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2212848"/>
            <a:ext cx="40599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setup code (e.g. logged-in state). Share across tests without repeating login steps. Saves 30–60% of test execution 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" y="3136392"/>
            <a:ext cx="42793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3136392"/>
            <a:ext cx="427939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313639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" y="3538728"/>
            <a:ext cx="40599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 controls browsers, timeouts, retries, reporters, and base URL. Change once, applies everywhere.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1728" y="3136392"/>
            <a:ext cx="42793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3136392"/>
            <a:ext cx="4279392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3136392"/>
            <a:ext cx="4059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Ready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91456" y="3538728"/>
            <a:ext cx="40599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GitHub Actions, Jenkins, Azure DevOps. Add `npx playwright test` to your pipeline and go.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4498848"/>
            <a:ext cx="873252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498848"/>
            <a:ext cx="8430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tests/  ·  📁 pages/ (Page Objects)  ·  📁 fixtures/ (Shared state)  ·  📄 playwright.config.ts  ·  📄 .env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645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2794" rIns="0" bIns="0" rtlCol="0" anchor="ctr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 CASES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Playwright delivers the most value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34440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123444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🖱️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13075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UI Interactions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Popups, iframes, shadow DOM, drag-and-drop — handled natively without workarounds.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984248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" y="198424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UI + API Testing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35000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API calls to seed data, then validate the UI — all in one test, no extra libraries.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2734056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1168" y="273405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28072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Flows (OAuth / MFA)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09981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login state to storageState and reuse across all tests — no re-login overhead.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" y="3483864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" y="348386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35570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Validation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4962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identical tests on Chrome, Firefox, WebKit in one command with one config.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4233672"/>
            <a:ext cx="8732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" y="423367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4400" y="43068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A11y 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59943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diffing and accessibility audits integrated into your suite.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A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TEAMS ACHIEVE MORE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2011680" cy="3246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20116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" y="192024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Reliable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 + CDP protocol = tests that just work every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04872" y="1417320"/>
            <a:ext cx="2011680" cy="3246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1417320"/>
            <a:ext cx="20116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Feature-Rich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96312" y="237744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events, network mocking, visual, A11y — all built-in, free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81144" y="1417320"/>
            <a:ext cx="2011680" cy="3246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81144" y="1417320"/>
            <a:ext cx="20116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90872" y="192024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Native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72584" y="237744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parallel execution, HTML reports — zero extra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57416" y="1417320"/>
            <a:ext cx="2011680" cy="3246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57416" y="1417320"/>
            <a:ext cx="20116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67144" y="192024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48856" y="237744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Multi-language, VS Code, active Microsoft enterprise backing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81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playwright.dev   ·   github.com/microsoft/playwright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Playwright</dc:title>
  <dc:subject>PptxGenJS Presentation</dc:subject>
  <dc:creator>PptxGenJS</dc:creator>
  <cp:lastModifiedBy>PptxGenJS</cp:lastModifiedBy>
  <cp:revision>1</cp:revision>
  <dcterms:created xsi:type="dcterms:W3CDTF">2026-03-22T11:28:48Z</dcterms:created>
  <dcterms:modified xsi:type="dcterms:W3CDTF">2026-03-22T11:28:48Z</dcterms:modified>
</cp:coreProperties>
</file>